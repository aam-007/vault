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80" r:id="rId4"/>
    <p:sldId id="281" r:id="rId5"/>
    <p:sldId id="264" r:id="rId6"/>
    <p:sldId id="260" r:id="rId7"/>
    <p:sldId id="259" r:id="rId8"/>
    <p:sldId id="258" r:id="rId9"/>
    <p:sldId id="262" r:id="rId10"/>
    <p:sldId id="267" r:id="rId11"/>
    <p:sldId id="266" r:id="rId12"/>
    <p:sldId id="265" r:id="rId13"/>
    <p:sldId id="269" r:id="rId14"/>
    <p:sldId id="268" r:id="rId15"/>
    <p:sldId id="270" r:id="rId16"/>
    <p:sldId id="271" r:id="rId17"/>
    <p:sldId id="273" r:id="rId18"/>
    <p:sldId id="272" r:id="rId19"/>
    <p:sldId id="275" r:id="rId20"/>
    <p:sldId id="274" r:id="rId21"/>
    <p:sldId id="276" r:id="rId22"/>
    <p:sldId id="282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596814-E430-4CE0-8EAB-CC37C309B8BB}" type="doc">
      <dgm:prSet loTypeId="urn:microsoft.com/office/officeart/2005/8/layout/cycle2" loCatId="cycle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IN"/>
        </a:p>
      </dgm:t>
    </dgm:pt>
    <dgm:pt modelId="{F1DCF2D9-369C-462B-BB8D-798F61736F11}">
      <dgm:prSet/>
      <dgm:spPr/>
      <dgm:t>
        <a:bodyPr/>
        <a:lstStyle/>
        <a:p>
          <a:r>
            <a:rPr lang="en-US" b="0" i="0" baseline="0" dirty="0"/>
            <a:t>Gold Refining </a:t>
          </a:r>
          <a:endParaRPr lang="en-IN" dirty="0"/>
        </a:p>
      </dgm:t>
    </dgm:pt>
    <dgm:pt modelId="{93FD0AC0-2757-4C1F-A693-95743B6A40FC}" type="parTrans" cxnId="{F8C6CD81-1A04-4AED-9F27-09D8B63B5D3E}">
      <dgm:prSet/>
      <dgm:spPr/>
      <dgm:t>
        <a:bodyPr/>
        <a:lstStyle/>
        <a:p>
          <a:endParaRPr lang="en-IN"/>
        </a:p>
      </dgm:t>
    </dgm:pt>
    <dgm:pt modelId="{320252A6-99AF-44B0-B161-8B5A1A81D3B1}" type="sibTrans" cxnId="{F8C6CD81-1A04-4AED-9F27-09D8B63B5D3E}">
      <dgm:prSet/>
      <dgm:spPr/>
      <dgm:t>
        <a:bodyPr/>
        <a:lstStyle/>
        <a:p>
          <a:endParaRPr lang="en-IN"/>
        </a:p>
      </dgm:t>
    </dgm:pt>
    <dgm:pt modelId="{2AB9AC97-F589-4B0E-AB5D-61F1733AF800}">
      <dgm:prSet/>
      <dgm:spPr/>
      <dgm:t>
        <a:bodyPr/>
        <a:lstStyle/>
        <a:p>
          <a:r>
            <a:rPr lang="en-US" b="0" i="0" baseline="0"/>
            <a:t>Jewellery Manufacturing </a:t>
          </a:r>
          <a:endParaRPr lang="en-IN"/>
        </a:p>
      </dgm:t>
    </dgm:pt>
    <dgm:pt modelId="{9098E991-C85A-4793-B0F8-2A21F696CE63}" type="parTrans" cxnId="{C90D4E3D-5DB3-4BDD-9A09-81F1D29367D5}">
      <dgm:prSet/>
      <dgm:spPr/>
      <dgm:t>
        <a:bodyPr/>
        <a:lstStyle/>
        <a:p>
          <a:endParaRPr lang="en-IN"/>
        </a:p>
      </dgm:t>
    </dgm:pt>
    <dgm:pt modelId="{09B6D19D-F499-4CB6-968B-257304249047}" type="sibTrans" cxnId="{C90D4E3D-5DB3-4BDD-9A09-81F1D29367D5}">
      <dgm:prSet/>
      <dgm:spPr/>
      <dgm:t>
        <a:bodyPr/>
        <a:lstStyle/>
        <a:p>
          <a:endParaRPr lang="en-IN"/>
        </a:p>
      </dgm:t>
    </dgm:pt>
    <dgm:pt modelId="{32F70753-551F-4638-9AB3-4D1182576128}">
      <dgm:prSet/>
      <dgm:spPr/>
      <dgm:t>
        <a:bodyPr/>
        <a:lstStyle/>
        <a:p>
          <a:r>
            <a:rPr lang="en-US" b="0" i="0" baseline="0"/>
            <a:t>Global Trading &amp; Exports </a:t>
          </a:r>
          <a:endParaRPr lang="en-IN"/>
        </a:p>
      </dgm:t>
    </dgm:pt>
    <dgm:pt modelId="{EEDD09B3-0242-4026-A81E-F44E0AB05E30}" type="parTrans" cxnId="{9B66B4F7-0790-48A2-A7BA-76ED9BE6C80E}">
      <dgm:prSet/>
      <dgm:spPr/>
      <dgm:t>
        <a:bodyPr/>
        <a:lstStyle/>
        <a:p>
          <a:endParaRPr lang="en-IN"/>
        </a:p>
      </dgm:t>
    </dgm:pt>
    <dgm:pt modelId="{727DEF55-B0E3-45C5-9527-86AA5DBB1D34}" type="sibTrans" cxnId="{9B66B4F7-0790-48A2-A7BA-76ED9BE6C80E}">
      <dgm:prSet/>
      <dgm:spPr/>
      <dgm:t>
        <a:bodyPr/>
        <a:lstStyle/>
        <a:p>
          <a:endParaRPr lang="en-IN"/>
        </a:p>
      </dgm:t>
    </dgm:pt>
    <dgm:pt modelId="{8A3FBA07-D2FD-49F3-8636-8FAB32954773}">
      <dgm:prSet/>
      <dgm:spPr/>
      <dgm:t>
        <a:bodyPr/>
        <a:lstStyle/>
        <a:p>
          <a:r>
            <a:rPr lang="en-US" b="0" i="0" baseline="0"/>
            <a:t>Retail Jewellery </a:t>
          </a:r>
          <a:endParaRPr lang="en-IN"/>
        </a:p>
      </dgm:t>
    </dgm:pt>
    <dgm:pt modelId="{D3BA9B26-0930-43F5-808D-DA74EF823EB3}" type="parTrans" cxnId="{95728431-8F6E-4E3A-BE45-0759ED30BD74}">
      <dgm:prSet/>
      <dgm:spPr/>
      <dgm:t>
        <a:bodyPr/>
        <a:lstStyle/>
        <a:p>
          <a:endParaRPr lang="en-IN"/>
        </a:p>
      </dgm:t>
    </dgm:pt>
    <dgm:pt modelId="{11B52D3C-2936-4CF2-A450-40FC9ED16D57}" type="sibTrans" cxnId="{95728431-8F6E-4E3A-BE45-0759ED30BD74}">
      <dgm:prSet/>
      <dgm:spPr/>
      <dgm:t>
        <a:bodyPr/>
        <a:lstStyle/>
        <a:p>
          <a:endParaRPr lang="en-IN"/>
        </a:p>
      </dgm:t>
    </dgm:pt>
    <dgm:pt modelId="{61E12B41-B065-49A5-B8E3-CD0BEAD2473E}">
      <dgm:prSet/>
      <dgm:spPr/>
      <dgm:t>
        <a:bodyPr/>
        <a:lstStyle/>
        <a:p>
          <a:r>
            <a:rPr lang="en-US" b="0" i="0" baseline="0" dirty="0"/>
            <a:t>Precious Metals Value Chain Integration </a:t>
          </a:r>
          <a:endParaRPr lang="en-IN" dirty="0"/>
        </a:p>
      </dgm:t>
    </dgm:pt>
    <dgm:pt modelId="{BC7558C5-E4C6-483E-8CEA-C3FC97502F15}" type="parTrans" cxnId="{AC8019DD-6E84-433D-84C6-E6391A18CCDF}">
      <dgm:prSet/>
      <dgm:spPr/>
      <dgm:t>
        <a:bodyPr/>
        <a:lstStyle/>
        <a:p>
          <a:endParaRPr lang="en-IN"/>
        </a:p>
      </dgm:t>
    </dgm:pt>
    <dgm:pt modelId="{7B3A7D6C-27EE-4863-9BC2-73182BF1121A}" type="sibTrans" cxnId="{AC8019DD-6E84-433D-84C6-E6391A18CCDF}">
      <dgm:prSet/>
      <dgm:spPr/>
      <dgm:t>
        <a:bodyPr/>
        <a:lstStyle/>
        <a:p>
          <a:endParaRPr lang="en-IN"/>
        </a:p>
      </dgm:t>
    </dgm:pt>
    <dgm:pt modelId="{7DA5D2FA-303C-4A60-8DC9-11F579FE63F1}" type="pres">
      <dgm:prSet presAssocID="{DE596814-E430-4CE0-8EAB-CC37C309B8BB}" presName="cycle" presStyleCnt="0">
        <dgm:presLayoutVars>
          <dgm:dir/>
          <dgm:resizeHandles val="exact"/>
        </dgm:presLayoutVars>
      </dgm:prSet>
      <dgm:spPr/>
    </dgm:pt>
    <dgm:pt modelId="{C9B29240-4ADE-478B-9236-6853CECC7AF9}" type="pres">
      <dgm:prSet presAssocID="{F1DCF2D9-369C-462B-BB8D-798F61736F11}" presName="node" presStyleLbl="node1" presStyleIdx="0" presStyleCnt="5">
        <dgm:presLayoutVars>
          <dgm:bulletEnabled val="1"/>
        </dgm:presLayoutVars>
      </dgm:prSet>
      <dgm:spPr/>
    </dgm:pt>
    <dgm:pt modelId="{E576DE01-2AD4-4809-A0E6-0514677948ED}" type="pres">
      <dgm:prSet presAssocID="{320252A6-99AF-44B0-B161-8B5A1A81D3B1}" presName="sibTrans" presStyleLbl="sibTrans2D1" presStyleIdx="0" presStyleCnt="5"/>
      <dgm:spPr/>
    </dgm:pt>
    <dgm:pt modelId="{B4B22A78-1A4B-460E-AC1E-333F6F426FA9}" type="pres">
      <dgm:prSet presAssocID="{320252A6-99AF-44B0-B161-8B5A1A81D3B1}" presName="connectorText" presStyleLbl="sibTrans2D1" presStyleIdx="0" presStyleCnt="5"/>
      <dgm:spPr/>
    </dgm:pt>
    <dgm:pt modelId="{047E2896-90DE-4A96-AE16-A3B6E785AEEB}" type="pres">
      <dgm:prSet presAssocID="{2AB9AC97-F589-4B0E-AB5D-61F1733AF800}" presName="node" presStyleLbl="node1" presStyleIdx="1" presStyleCnt="5">
        <dgm:presLayoutVars>
          <dgm:bulletEnabled val="1"/>
        </dgm:presLayoutVars>
      </dgm:prSet>
      <dgm:spPr/>
    </dgm:pt>
    <dgm:pt modelId="{DA7E333B-BE21-4ECB-88FF-19666F279BB5}" type="pres">
      <dgm:prSet presAssocID="{09B6D19D-F499-4CB6-968B-257304249047}" presName="sibTrans" presStyleLbl="sibTrans2D1" presStyleIdx="1" presStyleCnt="5"/>
      <dgm:spPr/>
    </dgm:pt>
    <dgm:pt modelId="{C16C88AA-FC0E-4D11-84F2-14883B08D6CE}" type="pres">
      <dgm:prSet presAssocID="{09B6D19D-F499-4CB6-968B-257304249047}" presName="connectorText" presStyleLbl="sibTrans2D1" presStyleIdx="1" presStyleCnt="5"/>
      <dgm:spPr/>
    </dgm:pt>
    <dgm:pt modelId="{7B6D8541-F59B-412E-A5D7-20A68E5A13ED}" type="pres">
      <dgm:prSet presAssocID="{32F70753-551F-4638-9AB3-4D1182576128}" presName="node" presStyleLbl="node1" presStyleIdx="2" presStyleCnt="5">
        <dgm:presLayoutVars>
          <dgm:bulletEnabled val="1"/>
        </dgm:presLayoutVars>
      </dgm:prSet>
      <dgm:spPr/>
    </dgm:pt>
    <dgm:pt modelId="{34EC8CDD-FFA1-45E9-81E7-B9BCD95B3BC5}" type="pres">
      <dgm:prSet presAssocID="{727DEF55-B0E3-45C5-9527-86AA5DBB1D34}" presName="sibTrans" presStyleLbl="sibTrans2D1" presStyleIdx="2" presStyleCnt="5"/>
      <dgm:spPr/>
    </dgm:pt>
    <dgm:pt modelId="{7C29DBB2-9895-46FA-A909-F70C7EE47E11}" type="pres">
      <dgm:prSet presAssocID="{727DEF55-B0E3-45C5-9527-86AA5DBB1D34}" presName="connectorText" presStyleLbl="sibTrans2D1" presStyleIdx="2" presStyleCnt="5"/>
      <dgm:spPr/>
    </dgm:pt>
    <dgm:pt modelId="{632FB2D0-7BA7-4D57-954E-E8915BD9721E}" type="pres">
      <dgm:prSet presAssocID="{8A3FBA07-D2FD-49F3-8636-8FAB32954773}" presName="node" presStyleLbl="node1" presStyleIdx="3" presStyleCnt="5">
        <dgm:presLayoutVars>
          <dgm:bulletEnabled val="1"/>
        </dgm:presLayoutVars>
      </dgm:prSet>
      <dgm:spPr/>
    </dgm:pt>
    <dgm:pt modelId="{E3CDF341-451E-44A9-BD6E-EE7F8E00F6A6}" type="pres">
      <dgm:prSet presAssocID="{11B52D3C-2936-4CF2-A450-40FC9ED16D57}" presName="sibTrans" presStyleLbl="sibTrans2D1" presStyleIdx="3" presStyleCnt="5"/>
      <dgm:spPr/>
    </dgm:pt>
    <dgm:pt modelId="{B6CF4DE0-D3AE-49D6-BBAE-C36D5373DAD3}" type="pres">
      <dgm:prSet presAssocID="{11B52D3C-2936-4CF2-A450-40FC9ED16D57}" presName="connectorText" presStyleLbl="sibTrans2D1" presStyleIdx="3" presStyleCnt="5"/>
      <dgm:spPr/>
    </dgm:pt>
    <dgm:pt modelId="{28436823-ED27-4AE0-9C82-488AA6D62E6C}" type="pres">
      <dgm:prSet presAssocID="{61E12B41-B065-49A5-B8E3-CD0BEAD2473E}" presName="node" presStyleLbl="node1" presStyleIdx="4" presStyleCnt="5">
        <dgm:presLayoutVars>
          <dgm:bulletEnabled val="1"/>
        </dgm:presLayoutVars>
      </dgm:prSet>
      <dgm:spPr/>
    </dgm:pt>
    <dgm:pt modelId="{8CEE5367-B51A-4A2C-968E-BDE8EC58EAAD}" type="pres">
      <dgm:prSet presAssocID="{7B3A7D6C-27EE-4863-9BC2-73182BF1121A}" presName="sibTrans" presStyleLbl="sibTrans2D1" presStyleIdx="4" presStyleCnt="5"/>
      <dgm:spPr/>
    </dgm:pt>
    <dgm:pt modelId="{D095B2D1-60ED-420F-9BB9-15B238103D00}" type="pres">
      <dgm:prSet presAssocID="{7B3A7D6C-27EE-4863-9BC2-73182BF1121A}" presName="connectorText" presStyleLbl="sibTrans2D1" presStyleIdx="4" presStyleCnt="5"/>
      <dgm:spPr/>
    </dgm:pt>
  </dgm:ptLst>
  <dgm:cxnLst>
    <dgm:cxn modelId="{C83F7F06-0ACB-4667-8682-B5D06F146EF3}" type="presOf" srcId="{61E12B41-B065-49A5-B8E3-CD0BEAD2473E}" destId="{28436823-ED27-4AE0-9C82-488AA6D62E6C}" srcOrd="0" destOrd="0" presId="urn:microsoft.com/office/officeart/2005/8/layout/cycle2"/>
    <dgm:cxn modelId="{8769332B-A808-4AF7-9E97-25E4A73214A9}" type="presOf" srcId="{320252A6-99AF-44B0-B161-8B5A1A81D3B1}" destId="{B4B22A78-1A4B-460E-AC1E-333F6F426FA9}" srcOrd="1" destOrd="0" presId="urn:microsoft.com/office/officeart/2005/8/layout/cycle2"/>
    <dgm:cxn modelId="{5D3A962E-812B-41B4-8C50-CB8A284C7B15}" type="presOf" srcId="{7B3A7D6C-27EE-4863-9BC2-73182BF1121A}" destId="{8CEE5367-B51A-4A2C-968E-BDE8EC58EAAD}" srcOrd="0" destOrd="0" presId="urn:microsoft.com/office/officeart/2005/8/layout/cycle2"/>
    <dgm:cxn modelId="{95728431-8F6E-4E3A-BE45-0759ED30BD74}" srcId="{DE596814-E430-4CE0-8EAB-CC37C309B8BB}" destId="{8A3FBA07-D2FD-49F3-8636-8FAB32954773}" srcOrd="3" destOrd="0" parTransId="{D3BA9B26-0930-43F5-808D-DA74EF823EB3}" sibTransId="{11B52D3C-2936-4CF2-A450-40FC9ED16D57}"/>
    <dgm:cxn modelId="{C90D4E3D-5DB3-4BDD-9A09-81F1D29367D5}" srcId="{DE596814-E430-4CE0-8EAB-CC37C309B8BB}" destId="{2AB9AC97-F589-4B0E-AB5D-61F1733AF800}" srcOrd="1" destOrd="0" parTransId="{9098E991-C85A-4793-B0F8-2A21F696CE63}" sibTransId="{09B6D19D-F499-4CB6-968B-257304249047}"/>
    <dgm:cxn modelId="{7E36366B-00B3-4A4F-85E0-96B18BC580D3}" type="presOf" srcId="{11B52D3C-2936-4CF2-A450-40FC9ED16D57}" destId="{B6CF4DE0-D3AE-49D6-BBAE-C36D5373DAD3}" srcOrd="1" destOrd="0" presId="urn:microsoft.com/office/officeart/2005/8/layout/cycle2"/>
    <dgm:cxn modelId="{9449416B-82C5-4A60-90CF-5118D18C7621}" type="presOf" srcId="{09B6D19D-F499-4CB6-968B-257304249047}" destId="{DA7E333B-BE21-4ECB-88FF-19666F279BB5}" srcOrd="0" destOrd="0" presId="urn:microsoft.com/office/officeart/2005/8/layout/cycle2"/>
    <dgm:cxn modelId="{FB529951-5DBB-4C98-B246-B3798D7B5101}" type="presOf" srcId="{8A3FBA07-D2FD-49F3-8636-8FAB32954773}" destId="{632FB2D0-7BA7-4D57-954E-E8915BD9721E}" srcOrd="0" destOrd="0" presId="urn:microsoft.com/office/officeart/2005/8/layout/cycle2"/>
    <dgm:cxn modelId="{C7B03272-A26B-448D-ADCA-1D3BC31841B5}" type="presOf" srcId="{32F70753-551F-4638-9AB3-4D1182576128}" destId="{7B6D8541-F59B-412E-A5D7-20A68E5A13ED}" srcOrd="0" destOrd="0" presId="urn:microsoft.com/office/officeart/2005/8/layout/cycle2"/>
    <dgm:cxn modelId="{6FD3417A-FBFC-40EC-A0C2-B30B257D7363}" type="presOf" srcId="{727DEF55-B0E3-45C5-9527-86AA5DBB1D34}" destId="{7C29DBB2-9895-46FA-A909-F70C7EE47E11}" srcOrd="1" destOrd="0" presId="urn:microsoft.com/office/officeart/2005/8/layout/cycle2"/>
    <dgm:cxn modelId="{F8C6CD81-1A04-4AED-9F27-09D8B63B5D3E}" srcId="{DE596814-E430-4CE0-8EAB-CC37C309B8BB}" destId="{F1DCF2D9-369C-462B-BB8D-798F61736F11}" srcOrd="0" destOrd="0" parTransId="{93FD0AC0-2757-4C1F-A693-95743B6A40FC}" sibTransId="{320252A6-99AF-44B0-B161-8B5A1A81D3B1}"/>
    <dgm:cxn modelId="{5B209490-D912-4F43-810E-95BB7FBBCAA8}" type="presOf" srcId="{DE596814-E430-4CE0-8EAB-CC37C309B8BB}" destId="{7DA5D2FA-303C-4A60-8DC9-11F579FE63F1}" srcOrd="0" destOrd="0" presId="urn:microsoft.com/office/officeart/2005/8/layout/cycle2"/>
    <dgm:cxn modelId="{5BC826A0-4C2D-4182-8018-4D3546AFC56C}" type="presOf" srcId="{320252A6-99AF-44B0-B161-8B5A1A81D3B1}" destId="{E576DE01-2AD4-4809-A0E6-0514677948ED}" srcOrd="0" destOrd="0" presId="urn:microsoft.com/office/officeart/2005/8/layout/cycle2"/>
    <dgm:cxn modelId="{B5FE8FAF-0E68-4ABC-8B0C-B664DDB08AA3}" type="presOf" srcId="{727DEF55-B0E3-45C5-9527-86AA5DBB1D34}" destId="{34EC8CDD-FFA1-45E9-81E7-B9BCD95B3BC5}" srcOrd="0" destOrd="0" presId="urn:microsoft.com/office/officeart/2005/8/layout/cycle2"/>
    <dgm:cxn modelId="{F8A574BD-A271-490C-83DB-B1C031AEBF17}" type="presOf" srcId="{F1DCF2D9-369C-462B-BB8D-798F61736F11}" destId="{C9B29240-4ADE-478B-9236-6853CECC7AF9}" srcOrd="0" destOrd="0" presId="urn:microsoft.com/office/officeart/2005/8/layout/cycle2"/>
    <dgm:cxn modelId="{258B48CA-DF8A-4A74-8379-382CF745D74E}" type="presOf" srcId="{09B6D19D-F499-4CB6-968B-257304249047}" destId="{C16C88AA-FC0E-4D11-84F2-14883B08D6CE}" srcOrd="1" destOrd="0" presId="urn:microsoft.com/office/officeart/2005/8/layout/cycle2"/>
    <dgm:cxn modelId="{DA94AFCC-B236-42AB-8F14-2A0DC3326995}" type="presOf" srcId="{2AB9AC97-F589-4B0E-AB5D-61F1733AF800}" destId="{047E2896-90DE-4A96-AE16-A3B6E785AEEB}" srcOrd="0" destOrd="0" presId="urn:microsoft.com/office/officeart/2005/8/layout/cycle2"/>
    <dgm:cxn modelId="{AC8019DD-6E84-433D-84C6-E6391A18CCDF}" srcId="{DE596814-E430-4CE0-8EAB-CC37C309B8BB}" destId="{61E12B41-B065-49A5-B8E3-CD0BEAD2473E}" srcOrd="4" destOrd="0" parTransId="{BC7558C5-E4C6-483E-8CEA-C3FC97502F15}" sibTransId="{7B3A7D6C-27EE-4863-9BC2-73182BF1121A}"/>
    <dgm:cxn modelId="{FF8DC6DD-22A8-48F5-8E27-B418648A88CD}" type="presOf" srcId="{7B3A7D6C-27EE-4863-9BC2-73182BF1121A}" destId="{D095B2D1-60ED-420F-9BB9-15B238103D00}" srcOrd="1" destOrd="0" presId="urn:microsoft.com/office/officeart/2005/8/layout/cycle2"/>
    <dgm:cxn modelId="{588042F3-EBBE-4A96-A44C-894DE3118A4F}" type="presOf" srcId="{11B52D3C-2936-4CF2-A450-40FC9ED16D57}" destId="{E3CDF341-451E-44A9-BD6E-EE7F8E00F6A6}" srcOrd="0" destOrd="0" presId="urn:microsoft.com/office/officeart/2005/8/layout/cycle2"/>
    <dgm:cxn modelId="{9B66B4F7-0790-48A2-A7BA-76ED9BE6C80E}" srcId="{DE596814-E430-4CE0-8EAB-CC37C309B8BB}" destId="{32F70753-551F-4638-9AB3-4D1182576128}" srcOrd="2" destOrd="0" parTransId="{EEDD09B3-0242-4026-A81E-F44E0AB05E30}" sibTransId="{727DEF55-B0E3-45C5-9527-86AA5DBB1D34}"/>
    <dgm:cxn modelId="{60BEE4D0-10B8-4A94-82E4-2E5C4CEB5BB6}" type="presParOf" srcId="{7DA5D2FA-303C-4A60-8DC9-11F579FE63F1}" destId="{C9B29240-4ADE-478B-9236-6853CECC7AF9}" srcOrd="0" destOrd="0" presId="urn:microsoft.com/office/officeart/2005/8/layout/cycle2"/>
    <dgm:cxn modelId="{64FBE812-7AB6-46F2-872A-AB19A5846895}" type="presParOf" srcId="{7DA5D2FA-303C-4A60-8DC9-11F579FE63F1}" destId="{E576DE01-2AD4-4809-A0E6-0514677948ED}" srcOrd="1" destOrd="0" presId="urn:microsoft.com/office/officeart/2005/8/layout/cycle2"/>
    <dgm:cxn modelId="{9B7F63F5-B57D-4AE6-97D2-E4237630C761}" type="presParOf" srcId="{E576DE01-2AD4-4809-A0E6-0514677948ED}" destId="{B4B22A78-1A4B-460E-AC1E-333F6F426FA9}" srcOrd="0" destOrd="0" presId="urn:microsoft.com/office/officeart/2005/8/layout/cycle2"/>
    <dgm:cxn modelId="{66B1904D-CFD1-432F-AF8B-DB92309D2BC2}" type="presParOf" srcId="{7DA5D2FA-303C-4A60-8DC9-11F579FE63F1}" destId="{047E2896-90DE-4A96-AE16-A3B6E785AEEB}" srcOrd="2" destOrd="0" presId="urn:microsoft.com/office/officeart/2005/8/layout/cycle2"/>
    <dgm:cxn modelId="{DF19BE10-6D2E-4A8D-AD73-2128825404B3}" type="presParOf" srcId="{7DA5D2FA-303C-4A60-8DC9-11F579FE63F1}" destId="{DA7E333B-BE21-4ECB-88FF-19666F279BB5}" srcOrd="3" destOrd="0" presId="urn:microsoft.com/office/officeart/2005/8/layout/cycle2"/>
    <dgm:cxn modelId="{6388A162-51B7-4650-B498-311F5DC78FB6}" type="presParOf" srcId="{DA7E333B-BE21-4ECB-88FF-19666F279BB5}" destId="{C16C88AA-FC0E-4D11-84F2-14883B08D6CE}" srcOrd="0" destOrd="0" presId="urn:microsoft.com/office/officeart/2005/8/layout/cycle2"/>
    <dgm:cxn modelId="{D01B411C-9EF6-4327-8E89-A34B30291139}" type="presParOf" srcId="{7DA5D2FA-303C-4A60-8DC9-11F579FE63F1}" destId="{7B6D8541-F59B-412E-A5D7-20A68E5A13ED}" srcOrd="4" destOrd="0" presId="urn:microsoft.com/office/officeart/2005/8/layout/cycle2"/>
    <dgm:cxn modelId="{204F78F9-DD9F-4A40-A3BF-2C32D07039A4}" type="presParOf" srcId="{7DA5D2FA-303C-4A60-8DC9-11F579FE63F1}" destId="{34EC8CDD-FFA1-45E9-81E7-B9BCD95B3BC5}" srcOrd="5" destOrd="0" presId="urn:microsoft.com/office/officeart/2005/8/layout/cycle2"/>
    <dgm:cxn modelId="{941C3348-E9D6-4E57-BFB0-81071437734C}" type="presParOf" srcId="{34EC8CDD-FFA1-45E9-81E7-B9BCD95B3BC5}" destId="{7C29DBB2-9895-46FA-A909-F70C7EE47E11}" srcOrd="0" destOrd="0" presId="urn:microsoft.com/office/officeart/2005/8/layout/cycle2"/>
    <dgm:cxn modelId="{AAD25291-009F-4415-854C-C6ED1C535C9C}" type="presParOf" srcId="{7DA5D2FA-303C-4A60-8DC9-11F579FE63F1}" destId="{632FB2D0-7BA7-4D57-954E-E8915BD9721E}" srcOrd="6" destOrd="0" presId="urn:microsoft.com/office/officeart/2005/8/layout/cycle2"/>
    <dgm:cxn modelId="{1D85BF59-260D-4908-96A3-FCF290FA012C}" type="presParOf" srcId="{7DA5D2FA-303C-4A60-8DC9-11F579FE63F1}" destId="{E3CDF341-451E-44A9-BD6E-EE7F8E00F6A6}" srcOrd="7" destOrd="0" presId="urn:microsoft.com/office/officeart/2005/8/layout/cycle2"/>
    <dgm:cxn modelId="{19152E6E-B167-41A6-A690-BBFC5F7F3916}" type="presParOf" srcId="{E3CDF341-451E-44A9-BD6E-EE7F8E00F6A6}" destId="{B6CF4DE0-D3AE-49D6-BBAE-C36D5373DAD3}" srcOrd="0" destOrd="0" presId="urn:microsoft.com/office/officeart/2005/8/layout/cycle2"/>
    <dgm:cxn modelId="{D1AEA246-5F74-4D50-83E8-F090F54A29C9}" type="presParOf" srcId="{7DA5D2FA-303C-4A60-8DC9-11F579FE63F1}" destId="{28436823-ED27-4AE0-9C82-488AA6D62E6C}" srcOrd="8" destOrd="0" presId="urn:microsoft.com/office/officeart/2005/8/layout/cycle2"/>
    <dgm:cxn modelId="{1EF27DC2-0EDF-498D-B050-A2877F0C0F23}" type="presParOf" srcId="{7DA5D2FA-303C-4A60-8DC9-11F579FE63F1}" destId="{8CEE5367-B51A-4A2C-968E-BDE8EC58EAAD}" srcOrd="9" destOrd="0" presId="urn:microsoft.com/office/officeart/2005/8/layout/cycle2"/>
    <dgm:cxn modelId="{1B09F835-09A1-4655-97FB-4F49232F578E}" type="presParOf" srcId="{8CEE5367-B51A-4A2C-968E-BDE8EC58EAAD}" destId="{D095B2D1-60ED-420F-9BB9-15B238103D00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29240-4ADE-478B-9236-6853CECC7AF9}">
      <dsp:nvSpPr>
        <dsp:cNvPr id="0" name=""/>
        <dsp:cNvSpPr/>
      </dsp:nvSpPr>
      <dsp:spPr>
        <a:xfrm>
          <a:off x="5316197" y="703"/>
          <a:ext cx="1824781" cy="18247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Gold Refining </a:t>
          </a:r>
          <a:endParaRPr lang="en-IN" sz="1500" kern="1200" dirty="0"/>
        </a:p>
      </dsp:txBody>
      <dsp:txXfrm>
        <a:off x="5583430" y="267936"/>
        <a:ext cx="1290315" cy="1290315"/>
      </dsp:txXfrm>
    </dsp:sp>
    <dsp:sp modelId="{E576DE01-2AD4-4809-A0E6-0514677948ED}">
      <dsp:nvSpPr>
        <dsp:cNvPr id="0" name=""/>
        <dsp:cNvSpPr/>
      </dsp:nvSpPr>
      <dsp:spPr>
        <a:xfrm rot="2160000">
          <a:off x="7083069" y="1401837"/>
          <a:ext cx="484097" cy="61586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7096937" y="1482328"/>
        <a:ext cx="338868" cy="369517"/>
      </dsp:txXfrm>
    </dsp:sp>
    <dsp:sp modelId="{047E2896-90DE-4A96-AE16-A3B6E785AEEB}">
      <dsp:nvSpPr>
        <dsp:cNvPr id="0" name=""/>
        <dsp:cNvSpPr/>
      </dsp:nvSpPr>
      <dsp:spPr>
        <a:xfrm>
          <a:off x="7531425" y="1610160"/>
          <a:ext cx="1824781" cy="18247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Jewellery Manufacturing </a:t>
          </a:r>
          <a:endParaRPr lang="en-IN" sz="1500" kern="1200"/>
        </a:p>
      </dsp:txBody>
      <dsp:txXfrm>
        <a:off x="7798658" y="1877393"/>
        <a:ext cx="1290315" cy="1290315"/>
      </dsp:txXfrm>
    </dsp:sp>
    <dsp:sp modelId="{DA7E333B-BE21-4ECB-88FF-19666F279BB5}">
      <dsp:nvSpPr>
        <dsp:cNvPr id="0" name=""/>
        <dsp:cNvSpPr/>
      </dsp:nvSpPr>
      <dsp:spPr>
        <a:xfrm rot="6480000">
          <a:off x="7782930" y="3503668"/>
          <a:ext cx="484097" cy="61586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7877984" y="3557781"/>
        <a:ext cx="338868" cy="369517"/>
      </dsp:txXfrm>
    </dsp:sp>
    <dsp:sp modelId="{7B6D8541-F59B-412E-A5D7-20A68E5A13ED}">
      <dsp:nvSpPr>
        <dsp:cNvPr id="0" name=""/>
        <dsp:cNvSpPr/>
      </dsp:nvSpPr>
      <dsp:spPr>
        <a:xfrm>
          <a:off x="6685283" y="4214317"/>
          <a:ext cx="1824781" cy="18247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Global Trading &amp; Exports </a:t>
          </a:r>
          <a:endParaRPr lang="en-IN" sz="1500" kern="1200"/>
        </a:p>
      </dsp:txBody>
      <dsp:txXfrm>
        <a:off x="6952516" y="4481550"/>
        <a:ext cx="1290315" cy="1290315"/>
      </dsp:txXfrm>
    </dsp:sp>
    <dsp:sp modelId="{34EC8CDD-FFA1-45E9-81E7-B9BCD95B3BC5}">
      <dsp:nvSpPr>
        <dsp:cNvPr id="0" name=""/>
        <dsp:cNvSpPr/>
      </dsp:nvSpPr>
      <dsp:spPr>
        <a:xfrm rot="10800000">
          <a:off x="6000240" y="4818776"/>
          <a:ext cx="484097" cy="61586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6145469" y="4941949"/>
        <a:ext cx="338868" cy="369517"/>
      </dsp:txXfrm>
    </dsp:sp>
    <dsp:sp modelId="{632FB2D0-7BA7-4D57-954E-E8915BD9721E}">
      <dsp:nvSpPr>
        <dsp:cNvPr id="0" name=""/>
        <dsp:cNvSpPr/>
      </dsp:nvSpPr>
      <dsp:spPr>
        <a:xfrm>
          <a:off x="3947110" y="4214317"/>
          <a:ext cx="1824781" cy="18247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Retail Jewellery </a:t>
          </a:r>
          <a:endParaRPr lang="en-IN" sz="1500" kern="1200"/>
        </a:p>
      </dsp:txBody>
      <dsp:txXfrm>
        <a:off x="4214343" y="4481550"/>
        <a:ext cx="1290315" cy="1290315"/>
      </dsp:txXfrm>
    </dsp:sp>
    <dsp:sp modelId="{E3CDF341-451E-44A9-BD6E-EE7F8E00F6A6}">
      <dsp:nvSpPr>
        <dsp:cNvPr id="0" name=""/>
        <dsp:cNvSpPr/>
      </dsp:nvSpPr>
      <dsp:spPr>
        <a:xfrm rot="15120000">
          <a:off x="4198615" y="3529728"/>
          <a:ext cx="484097" cy="61586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4293669" y="3721961"/>
        <a:ext cx="338868" cy="369517"/>
      </dsp:txXfrm>
    </dsp:sp>
    <dsp:sp modelId="{28436823-ED27-4AE0-9C82-488AA6D62E6C}">
      <dsp:nvSpPr>
        <dsp:cNvPr id="0" name=""/>
        <dsp:cNvSpPr/>
      </dsp:nvSpPr>
      <dsp:spPr>
        <a:xfrm>
          <a:off x="3100968" y="1610160"/>
          <a:ext cx="1824781" cy="182478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Precious Metals Value Chain Integration </a:t>
          </a:r>
          <a:endParaRPr lang="en-IN" sz="1500" kern="1200" dirty="0"/>
        </a:p>
      </dsp:txBody>
      <dsp:txXfrm>
        <a:off x="3368201" y="1877393"/>
        <a:ext cx="1290315" cy="1290315"/>
      </dsp:txXfrm>
    </dsp:sp>
    <dsp:sp modelId="{8CEE5367-B51A-4A2C-968E-BDE8EC58EAAD}">
      <dsp:nvSpPr>
        <dsp:cNvPr id="0" name=""/>
        <dsp:cNvSpPr/>
      </dsp:nvSpPr>
      <dsp:spPr>
        <a:xfrm rot="19440000">
          <a:off x="4867841" y="1417944"/>
          <a:ext cx="484097" cy="61586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4881709" y="1583799"/>
        <a:ext cx="338868" cy="369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A97EC-BB18-4BCF-805C-0567CF1BE0D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10DA9-6CD7-43D2-BAF9-92D2A9A244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16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A4C4-9FFA-A421-BF52-11FFDCCD1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FA6C4-571E-F85E-4B56-1ED9BE291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48BE1-2016-3BA5-44A9-91DA0CAF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7BFD9-D72A-414A-8C1F-C954F2C9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D0576-9A51-2CAC-2126-EB0A831D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33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69AF-D830-14A1-F75B-6E6910A3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0729A-5F57-3E80-A9F2-D2F64BB50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DCE69-E368-29C3-6E3D-812F1373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621AA-EE30-BC13-1370-BBC52E6B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9579F-70BF-7F5C-45CD-4DFBF09A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40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A0D4-16F1-1732-3F2E-AE1B485D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D0BDD-4965-0A31-9CA1-89D73FA13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D6ADD-ED24-554F-8A55-F4D1AE0D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5E0E6-899C-C82F-DE18-018ED589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8A9F6-4A68-1E93-AC07-7232276B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28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1AA0-1587-E9BC-58BC-26FBF078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EEF8A-ADD5-0B36-6A28-CD8FFEE6F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FE14E-F51C-403C-D4E6-5C6A9CC89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8C848-9F3B-4D88-9EEB-FB9DFA723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DAA05-C59C-092D-348B-017B321E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BBCA7-89B0-ACBD-8342-273E955A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03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9023-E0B8-91A5-0052-84AEBD07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F6B3C-CFE9-18DB-3AE2-2316CD87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C8395-70B3-EE4B-C51D-3E53BDC55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4D905-F813-6369-94D7-11BFD24E0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6B16CA-CF4E-0BA7-ECB6-8829D6DAD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13C32-4A18-303C-34D4-9C50F0CF6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BB994-47D1-617D-AB3F-E00863BB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A3F442-7303-77F7-DBBC-9D67F2A7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87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0F86-82A8-90EF-728A-9548EE9DC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E1DEE-5DB7-8ED2-FB9B-5DE7231B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19FB1-CB2E-EDA9-57CD-1F4ABB0B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BE646-E6C9-878D-42EF-381A6F5E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745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A9EDC-4208-2019-D053-A2414A1D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B70DD-DC11-3C57-E691-93C8DBDA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77427-991C-67CE-5911-3AA7BF83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40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E814-606D-F3A9-E315-6B723D97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95569-5C2F-0560-A2F0-7E2C17AB9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EB063-4254-9080-2A26-E8DC34BA3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3BCB1-D1E3-7A0D-E444-BB720FB5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CC3BD-5E05-106A-CB56-F19F66198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E11FD-00ED-F8D4-082D-2AA7514A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224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B51E-4DB4-D053-DE55-874ACFED1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1F4288-C597-A0F1-00FE-2018B44B4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D3F7E-F5E3-E26D-7D0D-71153818B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B9132-A33F-0C1E-BDB0-D33D51DE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A8481-DF85-BFC0-9AA9-895D91250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63C4D-F2DE-B34E-8D88-4B9057C4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48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F380-864D-A71F-23C2-4D26901E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D3C1E-65D2-B2FB-25D1-A1C8EC87E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8E133-054A-B5D8-DBB2-3118EE70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F097-2543-33BB-08AA-75A9897B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FA1AB-C80D-D2F2-C485-5C15C0C73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651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0DE30-4CDE-1CA8-F9E0-D10E0DFC4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C817C-EBD5-CC0D-B41F-A68896C77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E00E4-96C7-4CA2-CBC4-E4730E23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E4675-F1CE-2A3E-781A-C07048D9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BD304-BEE0-654F-B943-63EB24AD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20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BAB66C-97E7-4DD6-89C3-0B8A32AE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AE18B-3952-C335-0BAD-204EA9DB7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4875-3B18-6036-9191-9AF8D4533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C216A-C596-42A5-B113-0958A7BA54C0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85E3C-D412-5C4E-A482-59D904766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5FD35-6E11-523D-7EBC-27D694518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2C018-0F62-49DF-A912-DC91822C0B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373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5788-2955-ADAC-F57E-1529EE6CF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621" y="566928"/>
            <a:ext cx="12544424" cy="2387600"/>
          </a:xfrm>
        </p:spPr>
        <p:txBody>
          <a:bodyPr>
            <a:normAutofit/>
          </a:bodyPr>
          <a:lstStyle/>
          <a:p>
            <a:r>
              <a:rPr lang="en-US" sz="4000" dirty="0"/>
              <a:t>How One of India's Largest Companies Allegedly Misrepresented ₹15.15 Lakh Crore of Revenue between 2020 and 2025</a:t>
            </a:r>
            <a:endParaRPr lang="en-IN" sz="4000" dirty="0"/>
          </a:p>
        </p:txBody>
      </p:sp>
      <p:pic>
        <p:nvPicPr>
          <p:cNvPr id="3074" name="Picture 2" descr="Gold And Jewellery Stocks For Investors in India! | Trade Brains">
            <a:extLst>
              <a:ext uri="{FF2B5EF4-FFF2-40B4-BE49-F238E27FC236}">
                <a16:creationId xmlns:a16="http://schemas.microsoft.com/office/drawing/2014/main" id="{F6920AF9-2A5A-D1AC-A3BC-C56AE5030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657" y="3728847"/>
            <a:ext cx="3176685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9D26BF-C5EF-F0A2-014A-76FC183CDCC5}"/>
              </a:ext>
            </a:extLst>
          </p:cNvPr>
          <p:cNvSpPr txBox="1"/>
          <p:nvPr/>
        </p:nvSpPr>
        <p:spPr>
          <a:xfrm>
            <a:off x="9953625" y="5772150"/>
            <a:ext cx="2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Aditya Mishra</a:t>
            </a:r>
          </a:p>
          <a:p>
            <a:r>
              <a:rPr lang="en-IN" dirty="0"/>
              <a:t>S046</a:t>
            </a:r>
          </a:p>
        </p:txBody>
      </p:sp>
    </p:spTree>
    <p:extLst>
      <p:ext uri="{BB962C8B-B14F-4D97-AF65-F5344CB8AC3E}">
        <p14:creationId xmlns:p14="http://schemas.microsoft.com/office/powerpoint/2010/main" val="413475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D18C8-D05A-D8D4-3407-C5AD2C28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64713-3A19-3C2A-0710-74CCF58A5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8000" dirty="0"/>
              <a:t>15,15,00,00,00,00,000</a:t>
            </a:r>
          </a:p>
        </p:txBody>
      </p:sp>
    </p:spTree>
    <p:extLst>
      <p:ext uri="{BB962C8B-B14F-4D97-AF65-F5344CB8AC3E}">
        <p14:creationId xmlns:p14="http://schemas.microsoft.com/office/powerpoint/2010/main" val="83823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58656-A878-7975-1D90-0A303EC0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E11B-B386-49CF-F74A-0CDBD21C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3772F-D90A-A223-616A-2BFDE5263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8000" dirty="0"/>
              <a:t>15,15,00,00,00,00,000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2ED67-B5E3-DFB9-96EA-DA434E712613}"/>
              </a:ext>
            </a:extLst>
          </p:cNvPr>
          <p:cNvSpPr txBox="1"/>
          <p:nvPr/>
        </p:nvSpPr>
        <p:spPr>
          <a:xfrm>
            <a:off x="1895475" y="4886325"/>
            <a:ext cx="85439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/>
              <a:t>4.4 % of India’s Annual GDP </a:t>
            </a:r>
          </a:p>
        </p:txBody>
      </p:sp>
    </p:spTree>
    <p:extLst>
      <p:ext uri="{BB962C8B-B14F-4D97-AF65-F5344CB8AC3E}">
        <p14:creationId xmlns:p14="http://schemas.microsoft.com/office/powerpoint/2010/main" val="384281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D730-3C23-332A-99F8-095DE831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1F64-A7AC-C4DA-7952-B9C77F6B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E10DC-6E4E-E792-50E2-ED5A60D63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8000" dirty="0"/>
              <a:t>15,15,00,00,00,00,000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42F54-6E41-0CA3-DA52-0A673D194044}"/>
              </a:ext>
            </a:extLst>
          </p:cNvPr>
          <p:cNvSpPr txBox="1"/>
          <p:nvPr/>
        </p:nvSpPr>
        <p:spPr>
          <a:xfrm>
            <a:off x="742951" y="4886325"/>
            <a:ext cx="11229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₹5.8 crore every minute (for 5 years) </a:t>
            </a:r>
          </a:p>
        </p:txBody>
      </p:sp>
    </p:spTree>
    <p:extLst>
      <p:ext uri="{BB962C8B-B14F-4D97-AF65-F5344CB8AC3E}">
        <p14:creationId xmlns:p14="http://schemas.microsoft.com/office/powerpoint/2010/main" val="237333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C3DD-3916-F2A3-8DC5-B1AD0092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Company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88A25-6E5C-E459-585E-6589207C9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11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0C3E5-805E-34D3-1F98-2955FB843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7461" y="728664"/>
            <a:ext cx="4340163" cy="908112"/>
          </a:xfrm>
          <a:noFill/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200" dirty="0"/>
              <a:t>A Brief History of REL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8A2AB7-B15B-D094-7AFF-FF153827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7461" y="1722037"/>
            <a:ext cx="5327715" cy="4687907"/>
          </a:xfrm>
          <a:noFill/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just">
              <a:buFontTx/>
              <a:buChar char="-"/>
            </a:pPr>
            <a:r>
              <a:rPr lang="en-US" sz="2400" b="1" dirty="0"/>
              <a:t>1989–1990</a:t>
            </a:r>
            <a:r>
              <a:rPr lang="en-US" sz="2400" dirty="0"/>
              <a:t>: Rajesh (left) and Prashant (right) Mehta  established Rajesh Exports, focusing on manufacturing and exporting gold jewelry from Bengaluru.</a:t>
            </a:r>
          </a:p>
          <a:p>
            <a:pPr algn="just">
              <a:buFontTx/>
              <a:buChar char="-"/>
            </a:pPr>
            <a:r>
              <a:rPr lang="en-US" sz="2400" b="1" dirty="0"/>
              <a:t>1995</a:t>
            </a:r>
            <a:r>
              <a:rPr lang="en-US" sz="2400" dirty="0"/>
              <a:t>: The company was listed on Indian stock exchanges, using IPO proceeds to expand manufacturing capacity and exports.</a:t>
            </a:r>
          </a:p>
          <a:p>
            <a:pPr algn="just">
              <a:buFontTx/>
              <a:buChar char="-"/>
            </a:pPr>
            <a:r>
              <a:rPr lang="en-US" sz="2400" b="1" dirty="0"/>
              <a:t>2002–2015</a:t>
            </a:r>
            <a:r>
              <a:rPr lang="en-US" sz="2400" dirty="0"/>
              <a:t>: Expanded into refining and retail, culminating in the US$400 million acquisition of Swiss gold refiner Valcambi SA, making Rajesh Exports a vertically integrated global gold company.</a:t>
            </a:r>
          </a:p>
          <a:p>
            <a:pPr algn="just">
              <a:buFontTx/>
              <a:buChar char="-"/>
            </a:pPr>
            <a:r>
              <a:rPr lang="en-US" sz="2400" b="1" dirty="0"/>
              <a:t>2016–2024:</a:t>
            </a:r>
            <a:r>
              <a:rPr lang="en-US" sz="2400" dirty="0"/>
              <a:t> Became one of India's highest-revenue listed companies, with operations spanning refining, manufacturing, exports, and retail jewelry.</a:t>
            </a:r>
          </a:p>
        </p:txBody>
      </p:sp>
      <p:pic>
        <p:nvPicPr>
          <p:cNvPr id="12" name="Picture 11" descr="A group of men in suits&#10;&#10;AI-generated content may be incorrect.">
            <a:extLst>
              <a:ext uri="{FF2B5EF4-FFF2-40B4-BE49-F238E27FC236}">
                <a16:creationId xmlns:a16="http://schemas.microsoft.com/office/drawing/2014/main" id="{4DBE377F-220E-F02B-C7B0-0BC97ADA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" r="-1" b="-1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96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BAA6-2C6A-2F58-A1FC-B20587B7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555" y="2766218"/>
            <a:ext cx="10515600" cy="1325563"/>
          </a:xfrm>
        </p:spPr>
        <p:txBody>
          <a:bodyPr/>
          <a:lstStyle/>
          <a:p>
            <a:r>
              <a:rPr lang="en-IN" dirty="0"/>
              <a:t>What does REL do?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3AB473B-1BC2-0E98-74B1-97E3DF864A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320790"/>
              </p:ext>
            </p:extLst>
          </p:nvPr>
        </p:nvGraphicFramePr>
        <p:xfrm>
          <a:off x="2264664" y="453072"/>
          <a:ext cx="12457176" cy="6039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5543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CA1F-55B6-EB2C-8474-F1CFEA21C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D2FB0-71FB-9B0C-FC70-DD56B3C63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33AFC7-F2B7-A9AB-861D-84C0F0BCD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45" y="365124"/>
            <a:ext cx="11294279" cy="599908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DEB36-3F63-2B7B-6542-2C84BB3B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1024" y="6356350"/>
            <a:ext cx="4532376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Source: SEBI Order: WTM/KV/CFID/CFID-SEC6/32431/2026-27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1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C172-7106-CF40-3E79-E5D1008C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The Irregularities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16C79-9751-2918-69F5-BA0C2C061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25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6767-B6F7-C3E3-B041-9A662DE8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Misrepresentation through Consolidation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F6BC7-5254-5E22-6569-8D2479333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975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C07F4-C27B-4C0F-4530-DF25276E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36620" y="6356350"/>
            <a:ext cx="531876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Source: Section B – SEBI Order: WTM/KV/CFID/CFID-SEC6/32431/2026-27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2D0786-3782-815B-212E-4E7F45C3A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20" y="256032"/>
            <a:ext cx="944951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51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84BA22-E477-1649-1897-B3BB93E04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7468" y="136525"/>
            <a:ext cx="12766936" cy="645137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FA58B-584D-BAF6-3AFA-928C02FB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5304" y="6356350"/>
            <a:ext cx="5513832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Source: SEBI Order: WTM/KV/CFID/CFID-SEC6/32431/2026-27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152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99E0-113B-EA01-945A-4DA27E15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Manufacturing fictitious trade volume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C6F41-5243-B600-B380-69451E7DF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007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FB23E5-178F-DF3D-6CCF-FBE754ECD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90" y="0"/>
            <a:ext cx="93882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56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223E-331B-C9F7-EEE7-1CDC2AA2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"Gold Mines in Africa" phantom investment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2E5CC-C8CC-1E74-CA3B-7C3937E5F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855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6BDCE-6FCF-97D2-ED53-85159B789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348" y="0"/>
            <a:ext cx="929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36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B934-9FED-B40A-2D3F-6B634138B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Improper netting of receivables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FC45C-F2BD-E5DF-1C5C-7A5579D2B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461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5568FD-05D9-50B5-DB39-BC6848F32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187"/>
            <a:ext cx="121920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59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D685-D264-9C14-409A-5EC502A0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Undisclosed fund diversion to the promoter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A07A8-D3D1-A0A7-8CB9-8C6B20F8E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919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7790F3-FC7F-F03A-D0FB-252B8C889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4767"/>
            <a:ext cx="12192000" cy="572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42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2B43-F621-8A92-45F2-B5050243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REL’s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71D0A-FC8A-8526-7B31-585377BBD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Denied all allegations</a:t>
            </a:r>
          </a:p>
          <a:p>
            <a:r>
              <a:rPr lang="en-US" dirty="0"/>
              <a:t>Argued that SEBI misunderstood the consolidation methodology used for its overseas subsidiaries</a:t>
            </a:r>
          </a:p>
          <a:p>
            <a:r>
              <a:rPr lang="en-US" dirty="0"/>
              <a:t>Stated that it would challenge SEBI's findings through appropriate legal channels</a:t>
            </a:r>
          </a:p>
          <a:p>
            <a:r>
              <a:rPr lang="en-US" dirty="0"/>
              <a:t>Asserted that it would fully cooperate with the ongoing regulatory proceedings.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13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D25BD-AB76-6E73-46F6-A279C152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Takeaways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CF8F-06FD-0684-8CB6-1EE2BCC02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Alleged revenue inflation through consolidation</a:t>
            </a:r>
          </a:p>
          <a:p>
            <a:r>
              <a:rPr lang="en-US" dirty="0"/>
              <a:t>Multiple governance concerns identified by SEBI</a:t>
            </a:r>
          </a:p>
          <a:p>
            <a:r>
              <a:rPr lang="en-US"/>
              <a:t>Proceedings remain subject to legal challenge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702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2EC0-11B0-3DA9-FA17-7193829B9E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535CB-B903-B5F0-0AF3-DF52743D5C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92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301</Words>
  <Application>Microsoft Office PowerPoint</Application>
  <PresentationFormat>Widescreen</PresentationFormat>
  <Paragraphs>48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How One of India's Largest Companies Allegedly Misrepresented ₹15.15 Lakh Crore of Revenue between 2020 and 2025</vt:lpstr>
      <vt:lpstr>PowerPoint Presentation</vt:lpstr>
      <vt:lpstr>PowerPoint Presentation</vt:lpstr>
      <vt:lpstr>PowerPoint Presentation</vt:lpstr>
      <vt:lpstr>The Company </vt:lpstr>
      <vt:lpstr>A Brief History of REL</vt:lpstr>
      <vt:lpstr>What does REL do? </vt:lpstr>
      <vt:lpstr>PowerPoint Presentation</vt:lpstr>
      <vt:lpstr>The Irregularities </vt:lpstr>
      <vt:lpstr>Revenue Misrepresentation through Consolidation </vt:lpstr>
      <vt:lpstr>PowerPoint Presentation</vt:lpstr>
      <vt:lpstr>PowerPoint Presentation</vt:lpstr>
      <vt:lpstr>Manufacturing fictitious trade volume</vt:lpstr>
      <vt:lpstr>PowerPoint Presentation</vt:lpstr>
      <vt:lpstr>The "Gold Mines in Africa" phantom investment</vt:lpstr>
      <vt:lpstr>PowerPoint Presentation</vt:lpstr>
      <vt:lpstr>Improper netting of receivables </vt:lpstr>
      <vt:lpstr>PowerPoint Presentation</vt:lpstr>
      <vt:lpstr>Undisclosed fund diversion to the promoter</vt:lpstr>
      <vt:lpstr>PowerPoint Presentation</vt:lpstr>
      <vt:lpstr>REL’s Response</vt:lpstr>
      <vt:lpstr>Key Takeaways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</dc:creator>
  <cp:lastModifiedBy>Aditya</cp:lastModifiedBy>
  <cp:revision>11</cp:revision>
  <dcterms:created xsi:type="dcterms:W3CDTF">2026-07-23T08:56:54Z</dcterms:created>
  <dcterms:modified xsi:type="dcterms:W3CDTF">2026-07-23T12:12:02Z</dcterms:modified>
</cp:coreProperties>
</file>